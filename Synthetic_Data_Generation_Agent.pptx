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0D1117"/>
              </a:gs>
              <a:gs pos="100000">
                <a:srgbClr val="0F3460"/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89120" y="1280160"/>
            <a:ext cx="3383280" cy="365760"/>
          </a:xfrm>
          <a:prstGeom prst="rect">
            <a:avLst/>
          </a:prstGeom>
          <a:solidFill>
            <a:srgbClr val="1A2644"/>
          </a:solidFill>
          <a:ln w="1270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0" y="12801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63B3ED"/>
                </a:solidFill>
              </a:rPr>
              <a:t>🤖  AI-POWERED · LLM-DRIVEN · ENTERPRISE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Synthetic Data
Generation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749039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8B2D8"/>
                </a:solidFill>
              </a:rPr>
              <a:t>Generate realistic, schema-compliant synthetic datasets at scale
using large language models — fully configurable, batch-ready, instantly downloadable.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18096"/>
                </a:solidFill>
              </a:rPr>
              <a:t>Powered by Databricks · Claude Sonnet ·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37160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457200" cy="4572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188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Problem &amp;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447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Why synthetic data matters in enterprise AI/ML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Solution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4505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What the agent does and how it works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457200" cy="4572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46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Core Capabilities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456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Key features powering the 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06240"/>
            <a:ext cx="457200" cy="4572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Supported Data Schemas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4622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Cluster CSV and ProductVendor 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257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120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468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System design and data flow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1188720"/>
            <a:ext cx="457200" cy="4572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234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1188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Use Cases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14447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Where organisations deploy synthetic data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2194560"/>
            <a:ext cx="457200" cy="4572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2240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2194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24505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Python, Streamlit, Databricks, Claude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3200400"/>
            <a:ext cx="457200" cy="4572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246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3200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Extensibility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4564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How to add new data types in minutes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4206240"/>
            <a:ext cx="457200" cy="4572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117"/>
                </a:solidFill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44622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Getting started and future 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Problem with Real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228600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2103120"/>
          </a:xfrm>
          <a:prstGeom prst="rect">
            <a:avLst/>
          </a:prstGeom>
          <a:solidFill>
            <a:srgbClr val="16213E"/>
          </a:solidFill>
          <a:ln>
            <a:solidFill>
              <a:srgbClr val="455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325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Privacy &amp;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Real data contains PII — sharing it for dev/test
violates GDPR, HIPAA, and data governance policies.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486400" cy="2103120"/>
          </a:xfrm>
          <a:prstGeom prst="rect">
            <a:avLst/>
          </a:prstGeom>
          <a:solidFill>
            <a:srgbClr val="16213E"/>
          </a:solidFill>
          <a:ln>
            <a:solidFill>
              <a:srgbClr val="455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325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Slow Data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Getting production data approved for dev use
can take weeks through data governance processes.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66160"/>
            <a:ext cx="5486400" cy="2103120"/>
          </a:xfrm>
          <a:prstGeom prst="rect">
            <a:avLst/>
          </a:prstGeom>
          <a:solidFill>
            <a:srgbClr val="16213E"/>
          </a:solidFill>
          <a:ln>
            <a:solidFill>
              <a:srgbClr val="455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7033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Limited Edge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Real data often lacks rare events, outliers,
or specific scenarios needed for robust testing.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566160"/>
            <a:ext cx="5486400" cy="2103120"/>
          </a:xfrm>
          <a:prstGeom prst="rect">
            <a:avLst/>
          </a:prstGeom>
          <a:solidFill>
            <a:srgbClr val="16213E"/>
          </a:solidFill>
          <a:ln>
            <a:solidFill>
              <a:srgbClr val="455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703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7033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High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062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Sanitising and masking real datasets is
expensive, error-prone, and time-consuming.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Our Solution: LLM-Powered Synthetic Data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365760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6217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A8B2D8"/>
                </a:solidFill>
              </a:rPr>
              <a:t>A Streamlit-powered web application that uses Claude Sonnet (Anthropic) via Databricks to generate realistic, schema-compliant synthetic datasets on demand.
Users configure the data type, record count, and batch size — the agent handles the rest: prompting the LLM, parsing and validating results, retrying failures, and delivering clean CSV or JSON files ready for immediate 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097280"/>
            <a:ext cx="4389120" cy="868680"/>
          </a:xfrm>
          <a:prstGeom prst="rect">
            <a:avLst/>
          </a:prstGeom>
          <a:solidFill>
            <a:srgbClr val="16213E"/>
          </a:solidFill>
          <a:ln w="9525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188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17043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Batch 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813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Up to 10,000+ records per run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2103120"/>
            <a:ext cx="4389120" cy="868680"/>
          </a:xfrm>
          <a:prstGeom prst="rect">
            <a:avLst/>
          </a:prstGeom>
          <a:solidFill>
            <a:srgbClr val="16213E"/>
          </a:solidFill>
          <a:ln w="9525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17627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Schema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48716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Every field validated on parse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3108960"/>
            <a:ext cx="4389120" cy="868680"/>
          </a:xfrm>
          <a:prstGeom prst="rect">
            <a:avLst/>
          </a:prstGeom>
          <a:solidFill>
            <a:srgbClr val="16213E"/>
          </a:solidFill>
          <a:ln w="9525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18211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Auto-Retry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49300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2× retries per failed batch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4114800"/>
            <a:ext cx="4389120" cy="868680"/>
          </a:xfrm>
          <a:prstGeom prst="rect">
            <a:avLst/>
          </a:prstGeom>
          <a:solidFill>
            <a:srgbClr val="16213E"/>
          </a:solidFill>
          <a:ln w="9525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206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41879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Instant Download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449884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CSV or JSON — one click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5120640"/>
            <a:ext cx="4389120" cy="868680"/>
          </a:xfrm>
          <a:prstGeom prst="rect">
            <a:avLst/>
          </a:prstGeom>
          <a:solidFill>
            <a:srgbClr val="16213E"/>
          </a:solidFill>
          <a:ln w="9525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5212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✏️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519379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Editable Prompts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550468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Customise rules in the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Core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2286000"/>
          </a:xfrm>
          <a:prstGeom prst="rect">
            <a:avLst/>
          </a:prstGeom>
          <a:solidFill>
            <a:srgbClr val="16213E"/>
          </a:solidFill>
          <a:ln w="1905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280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3B3ED"/>
                </a:solidFill>
              </a:rPr>
              <a:t>LLM-Powered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B2D8"/>
                </a:solidFill>
              </a:rPr>
              <a:t>Leverages Claude Sonnet via Databricks. Contextually rich, business-rule-aware generation.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657600" cy="2286000"/>
          </a:xfrm>
          <a:prstGeom prst="rect">
            <a:avLst/>
          </a:prstGeom>
          <a:solidFill>
            <a:srgbClr val="16213E"/>
          </a:solidFill>
          <a:ln w="19050">
            <a:solidFill>
              <a:srgbClr val="76E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234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280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6E4F7"/>
                </a:solidFill>
              </a:rPr>
              <a:t>Schema Enforced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8288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B2D8"/>
                </a:solidFill>
              </a:rPr>
              <a:t>Field-level validation on every record. Wrong format = retry, not silent corruption.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097280"/>
            <a:ext cx="3657600" cy="2286000"/>
          </a:xfrm>
          <a:prstGeom prst="rect">
            <a:avLst/>
          </a:prstGeom>
          <a:solidFill>
            <a:srgbClr val="16213E"/>
          </a:solidFill>
          <a:ln w="19050">
            <a:solidFill>
              <a:srgbClr val="68D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23444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12801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8D391"/>
                </a:solidFill>
              </a:rPr>
              <a:t>Batch 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8288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B2D8"/>
                </a:solidFill>
              </a:rPr>
              <a:t>Large volumes split into configurable batches. Live progress bar in the UI.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657600"/>
            <a:ext cx="3657600" cy="2286000"/>
          </a:xfrm>
          <a:prstGeom prst="rect">
            <a:avLst/>
          </a:prstGeom>
          <a:solidFill>
            <a:srgbClr val="16213E"/>
          </a:solidFill>
          <a:ln w="19050">
            <a:solidFill>
              <a:srgbClr val="B79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7947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40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794F4"/>
                </a:solidFill>
              </a:rPr>
              <a:t>Configurable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B2D8"/>
                </a:solidFill>
              </a:rPr>
              <a:t>Row count, batch size, and prompts all controlled by the user — no code changes needed.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3657600"/>
            <a:ext cx="3657600" cy="2286000"/>
          </a:xfrm>
          <a:prstGeom prst="rect">
            <a:avLst/>
          </a:prstGeom>
          <a:solidFill>
            <a:srgbClr val="16213E"/>
          </a:solidFill>
          <a:ln w="19050">
            <a:solidFill>
              <a:srgbClr val="F6A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7947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840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6AD55"/>
                </a:solidFill>
              </a:rPr>
              <a:t>Multi-Format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3891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B2D8"/>
                </a:solidFill>
              </a:rPr>
              <a:t>CSV for tabular/flat data. JSON for nested/hierarchical schemas.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657600"/>
            <a:ext cx="3657600" cy="2286000"/>
          </a:xfrm>
          <a:prstGeom prst="rect">
            <a:avLst/>
          </a:prstGeom>
          <a:solidFill>
            <a:srgbClr val="16213E"/>
          </a:solidFill>
          <a:ln w="1905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379476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840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3B3ED"/>
                </a:solidFill>
              </a:rPr>
              <a:t>Fault Tolerant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38912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A8B2D8"/>
                </a:solidFill>
              </a:rPr>
              <a:t>Each batch retries 2× automatically. Skipped batches are logged, not silently lost.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Supported Data Schemas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256032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5486400" cy="5394960"/>
          </a:xfrm>
          <a:prstGeom prst="rect">
            <a:avLst/>
          </a:prstGeom>
          <a:solidFill>
            <a:srgbClr val="16213E"/>
          </a:solidFill>
          <a:ln w="1270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63B3ED"/>
                </a:solidFill>
              </a:rPr>
              <a:t>📦  Cluster  ·  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8B2D8"/>
                </a:solidFill>
              </a:rPr>
              <a:t>STORE_NO     4-digit zero-padded, digits 1–9
DEPT_NO      G5- + 2–4 alphanumeric chars
CSTD_GRADE   Exactly 2 alphanumeric chars
PHASE_STARTDATE  DD-MMM-YY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18096"/>
                </a:solidFill>
              </a:rPr>
              <a:t>Sample output: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5303520" cy="36576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8D391"/>
                </a:solidFill>
              </a:rPr>
              <a:t>0142, G5-AB12, A1, 15-Jan-25
0587, G5-XY3,  B3, 22-Mar-25
0931, G5-MN45, C2, 07-Jun-25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46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8D391"/>
                </a:solidFill>
              </a:rPr>
              <a:t>✅ Unique STORE_NO and DEPT_NO per batch guaranteed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035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Use cases: Store planning · Inventory clustering · Retail simulation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51560"/>
            <a:ext cx="5486400" cy="5394960"/>
          </a:xfrm>
          <a:prstGeom prst="rect">
            <a:avLst/>
          </a:prstGeom>
          <a:solidFill>
            <a:srgbClr val="16213E"/>
          </a:solidFill>
          <a:ln w="12700">
            <a:solidFill>
              <a:srgbClr val="76E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143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76E4F7"/>
                </a:solidFill>
              </a:rPr>
              <a:t>🛍️  ProductVendor  · 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7373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8B2D8"/>
                </a:solidFill>
              </a:rPr>
              <a:t>productId      18-digit zero-padded string
season.seasonYear    4-digit year
season.seasonName    Unique code (SP24, FA25...)
vendors[].supplierNumber  6-char, starts with M
vendors[].factoryNumber   11-digit string
vendors[].isActive        "true" or "false"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18096"/>
                </a:solidFill>
              </a:rPr>
              <a:t>Sample output: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749039"/>
            <a:ext cx="5303520" cy="36576"/>
          </a:xfrm>
          <a:prstGeom prst="rect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404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8D391"/>
                </a:solidFill>
              </a:rPr>
              <a:t>{ "productId": "000000000006059884",
  "season": { "seasonYear": "2025",
              "seasonName": "SP25" },
  "vendors": [{ "supplierNumber": "M00055",
               "isActive": "true" }]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8D391"/>
                </a:solidFill>
              </a:rPr>
              <a:t>✅ Nested validation: season + vendors checked per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5778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18096"/>
                </a:solidFill>
              </a:rPr>
              <a:t>Use cases: Product catalogue · Vendor management · Supply chain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System Architecture &amp;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320040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286000" cy="2743200"/>
          </a:xfrm>
          <a:prstGeom prst="rect">
            <a:avLst/>
          </a:prstGeom>
          <a:solidFill>
            <a:srgbClr val="16213E"/>
          </a:solidFill>
          <a:ln w="1905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B3ED"/>
                </a:solidFill>
              </a:rPr>
              <a:t>🖥️ Streamlit UI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57400"/>
            <a:ext cx="2103120" cy="2743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2D8"/>
                </a:solidFill>
              </a:rPr>
              <a:t>User selects data type,
row count, batch size
&amp; edits prompt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463040"/>
            <a:ext cx="2286000" cy="2743200"/>
          </a:xfrm>
          <a:prstGeom prst="rect">
            <a:avLst/>
          </a:prstGeom>
          <a:solidFill>
            <a:srgbClr val="16213E"/>
          </a:solidFill>
          <a:ln w="19050">
            <a:solidFill>
              <a:srgbClr val="76E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1600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6E4F7"/>
                </a:solidFill>
              </a:rPr>
              <a:t>⚙️ DataGenBot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057400"/>
            <a:ext cx="2103120" cy="27432"/>
          </a:xfrm>
          <a:prstGeom prst="rect">
            <a:avLst/>
          </a:prstGeom>
          <a:solidFill>
            <a:srgbClr val="7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2148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2D8"/>
                </a:solidFill>
              </a:rPr>
              <a:t>Builds prompt, calls
LLM API per batch,
streams progress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1463040"/>
            <a:ext cx="2286000" cy="2743200"/>
          </a:xfrm>
          <a:prstGeom prst="rect">
            <a:avLst/>
          </a:prstGeom>
          <a:solidFill>
            <a:srgbClr val="16213E"/>
          </a:solidFill>
          <a:ln w="19050">
            <a:solidFill>
              <a:srgbClr val="68D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1600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8D391"/>
                </a:solidFill>
              </a:rPr>
              <a:t>🤖 Databricks 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2057400"/>
            <a:ext cx="2103120" cy="27432"/>
          </a:xfrm>
          <a:prstGeom prst="rect">
            <a:avLst/>
          </a:prstGeom>
          <a:solidFill>
            <a:srgbClr val="68D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2148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2D8"/>
                </a:solidFill>
              </a:rPr>
              <a:t>Claude Sonnet via
OpenAI-compatible
serving endpoint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463040"/>
            <a:ext cx="2286000" cy="2743200"/>
          </a:xfrm>
          <a:prstGeom prst="rect">
            <a:avLst/>
          </a:prstGeom>
          <a:solidFill>
            <a:srgbClr val="16213E"/>
          </a:solidFill>
          <a:ln w="19050">
            <a:solidFill>
              <a:srgbClr val="B79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600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94F4"/>
                </a:solidFill>
              </a:rPr>
              <a:t>✅ Parser/Validator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057400"/>
            <a:ext cx="2103120" cy="27432"/>
          </a:xfrm>
          <a:prstGeom prst="rect">
            <a:avLst/>
          </a:prstGeom>
          <a:solidFill>
            <a:srgbClr val="B79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148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2D8"/>
                </a:solidFill>
              </a:rPr>
              <a:t>CSV: Pandas parsing
JSON: field-by-field
nested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07040" y="1463040"/>
            <a:ext cx="2286000" cy="2743200"/>
          </a:xfrm>
          <a:prstGeom prst="rect">
            <a:avLst/>
          </a:prstGeom>
          <a:solidFill>
            <a:srgbClr val="16213E"/>
          </a:solidFill>
          <a:ln w="19050">
            <a:solidFill>
              <a:srgbClr val="F6A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0" y="16002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6AD55"/>
                </a:solidFill>
              </a:rPr>
              <a:t>📥 Output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98480" y="2057400"/>
            <a:ext cx="2103120" cy="27432"/>
          </a:xfrm>
          <a:prstGeom prst="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0" y="214884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2D8"/>
                </a:solidFill>
              </a:rPr>
              <a:t>Session state stores
results for preview
&amp; download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63B3ED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63B3ED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63B3ED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63B3ED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4572000"/>
            <a:ext cx="4937760" cy="640080"/>
          </a:xfrm>
          <a:prstGeom prst="rect">
            <a:avLst/>
          </a:prstGeom>
          <a:solidFill>
            <a:srgbClr val="1A202C"/>
          </a:solidFill>
          <a:ln w="12700">
            <a:solidFill>
              <a:srgbClr val="76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17520" y="46177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6AD55"/>
                </a:solidFill>
              </a:rPr>
              <a:t>🔁  Auto-Retry: Each batch retries up to 2× on parse or API error before being skipped &amp; logged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Enterprise Use Cases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228600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2743200" cy="2286000"/>
          </a:xfrm>
          <a:prstGeom prst="rect">
            <a:avLst/>
          </a:prstGeom>
          <a:solidFill>
            <a:srgbClr val="16213E"/>
          </a:solidFill>
          <a:ln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2801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QA &amp; Testing Without PII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87452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18096"/>
                </a:solidFill>
              </a:rPr>
              <a:t>Test applications with realistic data
that contains no real customer information.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188720"/>
            <a:ext cx="2743200" cy="2286000"/>
          </a:xfrm>
          <a:prstGeom prst="rect">
            <a:avLst/>
          </a:prstGeom>
          <a:solidFill>
            <a:srgbClr val="16213E"/>
          </a:solidFill>
          <a:ln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2801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Dev Environment Seeding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87452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18096"/>
                </a:solidFill>
              </a:rPr>
              <a:t>Instantly populate dev/staging databases
with representative data for development.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2743200" cy="2286000"/>
          </a:xfrm>
          <a:prstGeom prst="rect">
            <a:avLst/>
          </a:prstGeom>
          <a:solidFill>
            <a:srgbClr val="16213E"/>
          </a:solidFill>
          <a:ln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12801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BI &amp; Analytics Prototyping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7452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18096"/>
                </a:solidFill>
              </a:rPr>
              <a:t>Build dashboards and reports before
real data pipelines are 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188720"/>
            <a:ext cx="2743200" cy="2286000"/>
          </a:xfrm>
          <a:prstGeom prst="rect">
            <a:avLst/>
          </a:prstGeom>
          <a:solidFill>
            <a:srgbClr val="16213E"/>
          </a:solidFill>
          <a:ln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2801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ML Model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87452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18096"/>
                </a:solidFill>
              </a:rPr>
              <a:t>Create large, labelled training datasets
for machine learning experiments.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749039"/>
            <a:ext cx="2743200" cy="2286000"/>
          </a:xfrm>
          <a:prstGeom prst="rect">
            <a:avLst/>
          </a:prstGeom>
          <a:solidFill>
            <a:srgbClr val="16213E"/>
          </a:solidFill>
          <a:ln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8404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8404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Privacy-Safe Data Sharing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434839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18096"/>
                </a:solidFill>
              </a:rPr>
              <a:t>Share data across teams or with
vendors without compliance risk.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3749039"/>
            <a:ext cx="2743200" cy="2286000"/>
          </a:xfrm>
          <a:prstGeom prst="rect">
            <a:avLst/>
          </a:prstGeom>
          <a:solidFill>
            <a:srgbClr val="16213E"/>
          </a:solidFill>
          <a:ln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38404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38404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ETL Pipeline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434839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18096"/>
                </a:solidFill>
              </a:rPr>
              <a:t>Stress-test data pipelines with
controlled, high-volume synthetic inputs.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3749039"/>
            <a:ext cx="2743200" cy="2286000"/>
          </a:xfrm>
          <a:prstGeom prst="rect">
            <a:avLst/>
          </a:prstGeom>
          <a:solidFill>
            <a:srgbClr val="16213E"/>
          </a:solidFill>
          <a:ln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38404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8404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Supply Chain Simulation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434839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18096"/>
                </a:solidFill>
              </a:rPr>
              <a:t>Model inventory and vendor scenarios
for planning and optimisation.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52560" y="3749039"/>
            <a:ext cx="2743200" cy="2286000"/>
          </a:xfrm>
          <a:prstGeom prst="rect">
            <a:avLst/>
          </a:prstGeom>
          <a:solidFill>
            <a:srgbClr val="16213E"/>
          </a:solidFill>
          <a:ln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9720" y="38404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384047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Demo &amp; Training Environments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434839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18096"/>
                </a:solidFill>
              </a:rPr>
              <a:t>Create compelling, realistic demos
for client presentations and training.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201168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011680" cy="4114800"/>
          </a:xfrm>
          <a:prstGeom prst="rect">
            <a:avLst/>
          </a:prstGeom>
          <a:solidFill>
            <a:srgbClr val="16213E"/>
          </a:solidFill>
          <a:ln w="1905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3B3ED"/>
                </a:solidFill>
              </a:rPr>
              <a:t>Python 3.12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788920"/>
            <a:ext cx="1463040" cy="2743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8B2D8"/>
                </a:solidFill>
              </a:rPr>
              <a:t>Core runtime &amp; orchestration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1188720"/>
            <a:ext cx="2011680" cy="4114800"/>
          </a:xfrm>
          <a:prstGeom prst="rect">
            <a:avLst/>
          </a:prstGeom>
          <a:solidFill>
            <a:srgbClr val="16213E"/>
          </a:solidFill>
          <a:ln w="19050">
            <a:solidFill>
              <a:srgbClr val="76E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4630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286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6E4F7"/>
                </a:solidFill>
              </a:rPr>
              <a:t>Streamlit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2788920"/>
            <a:ext cx="1463040" cy="27432"/>
          </a:xfrm>
          <a:prstGeom prst="rect">
            <a:avLst/>
          </a:prstGeom>
          <a:solidFill>
            <a:srgbClr val="7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29260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8B2D8"/>
                </a:solidFill>
              </a:rPr>
              <a:t>Interactive web UI, session
state, progress bar, downloads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188720"/>
            <a:ext cx="2011680" cy="4114800"/>
          </a:xfrm>
          <a:prstGeom prst="rect">
            <a:avLst/>
          </a:prstGeom>
          <a:solidFill>
            <a:srgbClr val="16213E"/>
          </a:solidFill>
          <a:ln w="19050">
            <a:solidFill>
              <a:srgbClr val="68D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14630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286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8D391"/>
                </a:solidFill>
              </a:rPr>
              <a:t>Claude Sonnet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2788920"/>
            <a:ext cx="1463040" cy="27432"/>
          </a:xfrm>
          <a:prstGeom prst="rect">
            <a:avLst/>
          </a:prstGeom>
          <a:solidFill>
            <a:srgbClr val="68D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9260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8B2D8"/>
                </a:solidFill>
              </a:rPr>
              <a:t>Anthropic LLM for contextually
rich data generation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1188720"/>
            <a:ext cx="2011680" cy="4114800"/>
          </a:xfrm>
          <a:prstGeom prst="rect">
            <a:avLst/>
          </a:prstGeom>
          <a:solidFill>
            <a:srgbClr val="16213E"/>
          </a:solidFill>
          <a:ln w="19050">
            <a:solidFill>
              <a:srgbClr val="B79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14630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286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794F4"/>
                </a:solidFill>
              </a:rPr>
              <a:t>Databricks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2788920"/>
            <a:ext cx="1463040" cy="27432"/>
          </a:xfrm>
          <a:prstGeom prst="rect">
            <a:avLst/>
          </a:prstGeom>
          <a:solidFill>
            <a:srgbClr val="B79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29260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8B2D8"/>
                </a:solidFill>
              </a:rPr>
              <a:t>Model serving endpoint
(OpenAI-compatible API)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1188720"/>
            <a:ext cx="2011680" cy="4114800"/>
          </a:xfrm>
          <a:prstGeom prst="rect">
            <a:avLst/>
          </a:prstGeom>
          <a:solidFill>
            <a:srgbClr val="16213E"/>
          </a:solidFill>
          <a:ln w="19050">
            <a:solidFill>
              <a:srgbClr val="F6A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14630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</a:rPr>
              <a:t>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2286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6AD55"/>
                </a:solidFill>
              </a:rPr>
              <a:t>Pandas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20" y="2788920"/>
            <a:ext cx="1463040" cy="27432"/>
          </a:xfrm>
          <a:prstGeom prst="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0" y="292608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8B2D8"/>
                </a:solidFill>
              </a:rPr>
              <a:t>CSV parsing, dataframe
manipulation, column mapping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solidFill>
            <a:srgbClr val="1A2644"/>
          </a:solidFill>
          <a:ln w="1270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5778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💡  The agent uses the openai Python SDK to call Databricks endpoints — making it trivially swappable between Databricks, Azure OpenAI, or any OpenAI-compatible provider.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Adding New Data Types — 3 Simple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365760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645920"/>
          </a:xfrm>
          <a:prstGeom prst="rect">
            <a:avLst/>
          </a:prstGeom>
          <a:solidFill>
            <a:srgbClr val="16213E"/>
          </a:solidFill>
          <a:ln w="9525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1️⃣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Add Prompt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18096"/>
                </a:solidFill>
              </a:rPr>
              <a:t>File: backend.py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280160"/>
            <a:ext cx="5486400" cy="141732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371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8D391"/>
                </a:solidFill>
              </a:rPr>
              <a:t>PROMPT_TEMPLATES["MyType"] = """
Generate exactly {batch_size} UNIQUE CSV rows.
Columns: COL_A, COL_B, COL_C
Rules:
- COL_A: ...
- COL_B: ...
"""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71800"/>
            <a:ext cx="11430000" cy="1645920"/>
          </a:xfrm>
          <a:prstGeom prst="rect">
            <a:avLst/>
          </a:prstGeom>
          <a:solidFill>
            <a:srgbClr val="16213E"/>
          </a:solidFill>
          <a:ln w="9525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063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2️⃣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Register Columns &amp; Output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429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18096"/>
                </a:solidFill>
              </a:rPr>
              <a:t>File: backend.py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3063240"/>
            <a:ext cx="5486400" cy="141732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315468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8D391"/>
                </a:solidFill>
              </a:rPr>
              <a:t>COLUMN_NAMES["MyType"] = ["COL_A", "COL_B", "COL_C"]
OUTPUT_FORMATS["MyType"] = "csv"  # or "json"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solidFill>
            <a:srgbClr val="16213E"/>
          </a:solidFill>
          <a:ln w="9525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463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3️⃣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Add to UI Selector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212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18096"/>
                </a:solidFill>
              </a:rPr>
              <a:t>File: app.py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4846320"/>
            <a:ext cx="5486400" cy="141732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493776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8D391"/>
                </a:solidFill>
              </a:rPr>
              <a:t>data_type = st.selectbox(
    "Element Type",
    options=["Cluster", "ProductVendor", "MyType"],
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0D1117"/>
              </a:gs>
              <a:gs pos="100000">
                <a:srgbClr val="0F3460"/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Next Steps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14400"/>
            <a:ext cx="256032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5486400" cy="4389120"/>
          </a:xfrm>
          <a:prstGeom prst="rect">
            <a:avLst/>
          </a:prstGeom>
          <a:solidFill>
            <a:srgbClr val="16213E"/>
          </a:solidFill>
          <a:ln w="12700">
            <a:solidFill>
              <a:srgbClr val="68D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8D391"/>
                </a:solidFill>
              </a:rPr>
              <a:t>✅  Immediate 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▶  Run the app: venv\Scripts\python.exe -m streamlit run 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▶  Generate Cluster CSV and ProductVendor JSON end-to-end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91839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▶  Review batch logs and download output 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69079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▶  Customise prompts in the UI to match your specific data rules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97280"/>
            <a:ext cx="5577840" cy="4389120"/>
          </a:xfrm>
          <a:prstGeom prst="rect">
            <a:avLst/>
          </a:prstGeom>
          <a:solidFill>
            <a:srgbClr val="16213E"/>
          </a:solidFill>
          <a:ln w="12700">
            <a:solidFill>
              <a:srgbClr val="76E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6E4F7"/>
                </a:solidFill>
              </a:rPr>
              <a:t>🗺️  Future Roadmap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🔜  Add new data schemas (e.g. Customer, Transaction, Employee)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🔜  Export to Excel, Parquet, and database formats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🔜  Multi-schema generation in a single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947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🔜  Schema inference from existing table DDL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805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🔜  Volume scale-out via parallel batch workers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1663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2D8"/>
                </a:solidFill>
              </a:rPr>
              <a:t>🔜  Configurable LLM provider (Azure OpenAI, OpenAI, local models)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760720"/>
            <a:ext cx="11430000" cy="822960"/>
          </a:xfrm>
          <a:prstGeom prst="rect">
            <a:avLst/>
          </a:prstGeom>
          <a:solidFill>
            <a:srgbClr val="0F3460"/>
          </a:solidFill>
          <a:ln w="1270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8521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🚀  Ready to generate synthetic data at scale?  Let's configure your environment and get started today.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0D1117"/>
              </a:gs>
              <a:gs pos="100000">
                <a:srgbClr val="533483"/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10896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A8B2D8"/>
                </a:solidFill>
              </a:rPr>
              <a:t>Synthetic Data Generation Agent
Powered by Databricks · Claude Sonnet ·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4206240"/>
            <a:ext cx="4846320" cy="36576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3B3ED"/>
                </a:solidFill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18096"/>
                </a:solidFill>
              </a:rPr>
              <a:t>Confidential · For Client Presentation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0A0E1A"/>
              </a:gs>
              <a:gs pos="100000">
                <a:srgbClr val="0C284A"/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01200" y="0"/>
            <a:ext cx="2587752" cy="1828800"/>
          </a:xfrm>
          <a:prstGeom prst="rect">
            <a:avLst/>
          </a:prstGeom>
          <a:ln>
            <a:noFill/>
          </a:ln>
          <a:gradFill rotWithShape="1">
            <a:gsLst>
              <a:gs pos="0">
                <a:srgbClr val="1A3A6A"/>
              </a:gs>
              <a:gs pos="100000">
                <a:srgbClr val="0A0E1A"/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4864"/>
            <a:ext cx="12188952" cy="868680"/>
          </a:xfrm>
          <a:prstGeom prst="rect">
            <a:avLst/>
          </a:prstGeom>
          <a:solidFill>
            <a:srgbClr val="10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7160"/>
            <a:ext cx="594360" cy="59436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8016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09728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Synthetic Data Generation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3B3ED"/>
                </a:solidFill>
              </a:rPr>
              <a:t>LLM-powered · Schema-validated · Batch-streaming · Instantly downloadable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0" y="201168"/>
            <a:ext cx="1828800" cy="457200"/>
          </a:xfrm>
          <a:prstGeom prst="rect">
            <a:avLst/>
          </a:prstGeom>
          <a:solidFill>
            <a:srgbClr val="1A2644"/>
          </a:solidFill>
          <a:ln w="1270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0" y="2011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76E4F7"/>
                </a:solidFill>
              </a:rPr>
              <a:t>⚡ Databricks · Claude Sonnet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005840"/>
            <a:ext cx="4754880" cy="1600200"/>
          </a:xfrm>
          <a:prstGeom prst="rect">
            <a:avLst/>
          </a:prstGeom>
          <a:solidFill>
            <a:srgbClr val="16213E"/>
          </a:solidFill>
          <a:ln w="1524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05156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B3ED"/>
                </a:solidFill>
              </a:rPr>
              <a:t>✨  What It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426464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8B2D8"/>
                </a:solidFill>
              </a:rPr>
              <a:t>A Streamlit web app that uses Claude Sonnet via Databricks to generate realistic, rule-compliant synthetic datasets on demand. Users pick the data type, row count &amp; batch size — the agent handles prompting, parsing, validation &amp; download.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66360" y="1005840"/>
            <a:ext cx="6766560" cy="1600200"/>
          </a:xfrm>
          <a:prstGeom prst="rect">
            <a:avLst/>
          </a:prstGeom>
          <a:solidFill>
            <a:srgbClr val="16213E"/>
          </a:solidFill>
          <a:ln w="15240">
            <a:solidFill>
              <a:srgbClr val="68D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1808" y="10515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8D391"/>
                </a:solidFill>
              </a:rPr>
              <a:t>📈  Why It's Scalable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144475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🔄  Batch streaming — large volumes split into configurable batches with live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17373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🔁  Auto-retry — 2× retries per failed batch, skips logged — never silent data loss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20299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⚙️  Configurable row count, batch size &amp; prompts — zero code changes needed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2322576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🌐  OpenAI-compatible endpoint — swap Databricks for Azure OpenAI or any provider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" y="272491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18096"/>
                </a:solidFill>
              </a:rPr>
              <a:t>SUPPORTED DATA SCHEMAS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2834640"/>
            <a:ext cx="27432" cy="2286000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2834640"/>
            <a:ext cx="5669280" cy="2286000"/>
          </a:xfrm>
          <a:prstGeom prst="rect">
            <a:avLst/>
          </a:prstGeom>
          <a:solidFill>
            <a:srgbClr val="121C35"/>
          </a:solidFill>
          <a:ln w="1270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287121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B3ED"/>
                </a:solidFill>
              </a:rPr>
              <a:t>📦  Cluster  ·  CSV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27355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  ▸  STORE_NO       4-digit zero-padded  (e.g. 0142)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359359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  ▸  DEPT_NO        G5- + 2–4 alphanumeric  (e.g. G5-AB12)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391363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  ▸  CSTD_GRADE     Exactly 2 alphanumeric chars  (e.g. A1)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" y="4233672"/>
            <a:ext cx="5303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  ▸  PHASE_STARTDATE  DD-MMM-YY  (e.g. 15-Jan-25)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4572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8D391"/>
                </a:solidFill>
              </a:rPr>
              <a:t>✅ Unique STORE_NO + DEPT_NO guaranteed per batch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2834640"/>
            <a:ext cx="5760720" cy="2286000"/>
          </a:xfrm>
          <a:prstGeom prst="rect">
            <a:avLst/>
          </a:prstGeom>
          <a:solidFill>
            <a:srgbClr val="121C35"/>
          </a:solidFill>
          <a:ln w="12700">
            <a:solidFill>
              <a:srgbClr val="76E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87121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6E4F7"/>
                </a:solidFill>
              </a:rPr>
              <a:t>🛍️  ProductVendor  ·  JSON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273552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  ▸  productId         18-digit zero-padded string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3593592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  ▸  season.seasonYear  4-digit year  /  seasonName unique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913632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  ▸  vendors[].supplierNumber  6-char, starts with 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233672"/>
            <a:ext cx="53949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B2D8"/>
                </a:solidFill>
              </a:rPr>
              <a:t>  ▸  vendors[].factoryNumber   11-digit  /  isActive true|false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572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8D391"/>
                </a:solidFill>
              </a:rPr>
              <a:t>✅ Nested validation: season + every vendor checked on parse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" y="50474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18096"/>
                </a:solidFill>
              </a:rPr>
              <a:t>ENTERPRISE USE CASES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5349240"/>
            <a:ext cx="1901952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53949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589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B3ED"/>
                </a:solidFill>
              </a:rPr>
              <a:t>QA Without PII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0280" y="5349240"/>
            <a:ext cx="1901952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76E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31720" y="53949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4589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6E4F7"/>
                </a:solidFill>
              </a:rPr>
              <a:t>Dev Env Seeding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5349240"/>
            <a:ext cx="1901952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68D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43400" y="53949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54880" y="54589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8D391"/>
                </a:solidFill>
              </a:rPr>
              <a:t>BI Prototyping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" y="6007607"/>
            <a:ext cx="1901952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B79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605332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6117335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794F4"/>
                </a:solidFill>
              </a:rPr>
              <a:t>ML Training Data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40280" y="6007607"/>
            <a:ext cx="1901952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F6A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31720" y="605332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0" y="6117335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6AD55"/>
                </a:solidFill>
              </a:rPr>
              <a:t>Privacy-Safe Sharing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51960" y="6007607"/>
            <a:ext cx="1901952" cy="530352"/>
          </a:xfrm>
          <a:prstGeom prst="rect">
            <a:avLst/>
          </a:prstGeom>
          <a:solidFill>
            <a:srgbClr val="16213E"/>
          </a:solidFill>
          <a:ln w="1270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43400" y="6053327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6117335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B3ED"/>
                </a:solidFill>
              </a:rPr>
              <a:t>Supply Chain Sim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504748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18096"/>
                </a:solidFill>
              </a:rPr>
              <a:t>CORE FEATURES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21808" y="5321808"/>
            <a:ext cx="1554480" cy="1389888"/>
          </a:xfrm>
          <a:prstGeom prst="rect">
            <a:avLst/>
          </a:prstGeom>
          <a:solidFill>
            <a:srgbClr val="16213E"/>
          </a:solidFill>
          <a:ln w="12700"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70448" y="5367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67528" y="57790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63B3ED"/>
                </a:solidFill>
              </a:rPr>
              <a:t>LLM-Powered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67528" y="605332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18096"/>
                </a:solidFill>
              </a:rPr>
              <a:t>Contextually rich generation via Claude Sonnet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13448" y="5321808"/>
            <a:ext cx="1554480" cy="1389888"/>
          </a:xfrm>
          <a:prstGeom prst="rect">
            <a:avLst/>
          </a:prstGeom>
          <a:solidFill>
            <a:srgbClr val="16213E"/>
          </a:solidFill>
          <a:ln w="12700">
            <a:solidFill>
              <a:srgbClr val="76E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62088" y="5367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59168" y="57790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76E4F7"/>
                </a:solidFill>
              </a:rPr>
              <a:t>Schema Enforced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59168" y="605332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18096"/>
                </a:solidFill>
              </a:rPr>
              <a:t>Field-level validation — wrong format = retry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05088" y="5321808"/>
            <a:ext cx="1554480" cy="1389888"/>
          </a:xfrm>
          <a:prstGeom prst="rect">
            <a:avLst/>
          </a:prstGeom>
          <a:solidFill>
            <a:srgbClr val="16213E"/>
          </a:solidFill>
          <a:ln w="12700">
            <a:solidFill>
              <a:srgbClr val="B794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53728" y="5367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✏️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50808" y="57790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94F4"/>
                </a:solidFill>
              </a:rPr>
              <a:t>Editable Prompts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50808" y="605332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18096"/>
                </a:solidFill>
              </a:rPr>
              <a:t>Customise rules in the UI, no code changes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396728" y="5321808"/>
            <a:ext cx="1554480" cy="1389888"/>
          </a:xfrm>
          <a:prstGeom prst="rect">
            <a:avLst/>
          </a:prstGeom>
          <a:solidFill>
            <a:srgbClr val="16213E"/>
          </a:solidFill>
          <a:ln w="12700">
            <a:solidFill>
              <a:srgbClr val="F6AD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945368" y="5367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42448" y="57790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6AD55"/>
                </a:solidFill>
              </a:rPr>
              <a:t>Multi-Format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42448" y="605332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18096"/>
                </a:solidFill>
              </a:rPr>
              <a:t>CSV for flat data · JSON for nested schemas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63B3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0" y="6675120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718096"/>
                </a:solidFill>
              </a:rPr>
              <a:t>Powered by Databricks · Claude Sonnet · Streamlit  ·  Extend with new schemas in 3 steps — PROMPT_TEMPLATES · COLUMN_NAMES · UI selector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